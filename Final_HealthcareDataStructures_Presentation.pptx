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1430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F4E79"/>
                </a:solidFill>
              </a:defRPr>
            </a:pPr>
            <a:r>
              <a:t>Healthcare Data Structures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5740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142D46"/>
                </a:solidFill>
              </a:defRPr>
            </a:pPr>
            <a:r>
              <a:t>Evaluating Dynamic Arrays, Linked Lists, Hash Maps, and Priority Queues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60520" y="3108960"/>
            <a:ext cx="3840480" cy="68580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2D46"/>
                </a:solidFill>
              </a:defRPr>
            </a:pPr>
            <a:r>
              <a:t>Team: Keny's Crew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3977639"/>
            <a:ext cx="3840480" cy="68580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2D46"/>
                </a:solidFill>
              </a:defRPr>
            </a:pPr>
            <a:r>
              <a:t>Member: Keny Nana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A5A5A"/>
                </a:solidFill>
              </a:defRPr>
            </a:pPr>
            <a:r>
              <a:t>Keny's Crew | Keny Nana | COSC 214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Project Requirements Covered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Implementation is aligned with the healthcare dataset Phase 1 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2D46"/>
                </a:solidFill>
              </a:defRPr>
            </a:pPr>
            <a:r>
              <a:t>Create a PatientRecord object from healthcare-style data</a:t>
            </a:r>
          </a:p>
          <a:p>
            <a:pPr>
              <a:spcAft>
                <a:spcPts val="800"/>
              </a:spcAft>
              <a:defRPr sz="1800">
                <a:solidFill>
                  <a:srgbClr val="142D46"/>
                </a:solidFill>
              </a:defRPr>
            </a:pPr>
            <a:r>
              <a:t>Implement four data structures from scratch</a:t>
            </a:r>
          </a:p>
          <a:p>
            <a:pPr>
              <a:spcAft>
                <a:spcPts val="800"/>
              </a:spcAft>
              <a:defRPr sz="1800">
                <a:solidFill>
                  <a:srgbClr val="142D46"/>
                </a:solidFill>
              </a:defRPr>
            </a:pPr>
            <a:r>
              <a:t>Support insert, search, delete, and traversal</a:t>
            </a:r>
          </a:p>
          <a:p>
            <a:pPr>
              <a:spcAft>
                <a:spcPts val="800"/>
              </a:spcAft>
              <a:defRPr sz="1800">
                <a:solidFill>
                  <a:srgbClr val="142D46"/>
                </a:solidFill>
              </a:defRPr>
            </a:pPr>
            <a:r>
              <a:t>Simulate admission processing with a priority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258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2D46"/>
                </a:solidFill>
              </a:defRPr>
            </a:pPr>
            <a:r>
              <a:t>Use Java as the implementation language</a:t>
            </a:r>
          </a:p>
          <a:p>
            <a:pPr>
              <a:spcAft>
                <a:spcPts val="800"/>
              </a:spcAft>
              <a:defRPr sz="1800">
                <a:solidFill>
                  <a:srgbClr val="142D46"/>
                </a:solidFill>
              </a:defRPr>
            </a:pPr>
            <a:r>
              <a:t>Provide a simple user interface</a:t>
            </a:r>
          </a:p>
          <a:p>
            <a:pPr>
              <a:spcAft>
                <a:spcPts val="800"/>
              </a:spcAft>
              <a:defRPr sz="1800">
                <a:solidFill>
                  <a:srgbClr val="142D46"/>
                </a:solidFill>
              </a:defRPr>
            </a:pPr>
            <a:r>
              <a:t>Benchmark performance with System.nanoTime</a:t>
            </a:r>
          </a:p>
          <a:p>
            <a:pPr>
              <a:spcAft>
                <a:spcPts val="800"/>
              </a:spcAft>
              <a:defRPr sz="1800">
                <a:solidFill>
                  <a:srgbClr val="142D46"/>
                </a:solidFill>
              </a:defRPr>
            </a:pPr>
            <a:r>
              <a:t>Include tests and documentation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A5A5A"/>
                </a:solidFill>
              </a:defRPr>
            </a:pPr>
            <a:r>
              <a:t>Keny's Crew | Keny Nana | COSC 214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Dataset and PatientRecord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4206240" cy="4114800"/>
          </a:xfrm>
          <a:prstGeom prst="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142D46"/>
                </a:solidFill>
              </a:defRPr>
            </a:pPr>
            <a:r>
              <a:t>CSV healthcare dataset</a:t>
            </a:r>
            <a:br/>
            <a:br/>
            <a:r>
              <a:t>Name, Age, Gender, Blood Type, Medical Condition, Hospital, Doctor, Insurance, Billing Amount, Admission Type, Test Results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66360" y="3429000"/>
            <a:ext cx="146304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720840" y="1280160"/>
            <a:ext cx="4389120" cy="4297680"/>
          </a:xfrm>
          <a:prstGeom prst="rect">
            <a:avLst/>
          </a:prstGeom>
          <a:solidFill>
            <a:srgbClr val="EAF2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0">
                <a:solidFill>
                  <a:srgbClr val="142D46"/>
                </a:solidFill>
              </a:defRPr>
            </a:pPr>
            <a:r>
              <a:t>PatientRecord</a:t>
            </a:r>
            <a:br/>
            <a:br/>
            <a:r>
              <a:t>ID</a:t>
            </a:r>
            <a:br/>
            <a:r>
              <a:t>Age</a:t>
            </a:r>
            <a:br/>
            <a:r>
              <a:t>Gender</a:t>
            </a:r>
            <a:br/>
            <a:r>
              <a:t>MedicalCondition</a:t>
            </a:r>
            <a:br/>
            <a:r>
              <a:t>Hospital</a:t>
            </a:r>
            <a:br/>
            <a:r>
              <a:t>AdmissionType</a:t>
            </a:r>
            <a:br/>
            <a:r>
              <a:t>BillingAmount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A5A5A"/>
                </a:solidFill>
              </a:defRPr>
            </a:pPr>
            <a:r>
              <a:t>Keny's Crew | Keny Nana | COSC 214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User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920240"/>
            <a:ext cx="1645920" cy="109728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D46"/>
                </a:solidFill>
              </a:defRPr>
            </a:pPr>
            <a:r>
              <a:t>Load CSV</a:t>
            </a:r>
            <a:br/>
            <a:r>
              <a:t>or sample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331720" y="2468880"/>
            <a:ext cx="41148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0" y="1920240"/>
            <a:ext cx="1645920" cy="109728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D46"/>
                </a:solidFill>
              </a:defRPr>
            </a:pPr>
            <a:r>
              <a:t>Choose</a:t>
            </a:r>
            <a:br/>
            <a:r>
              <a:t>operation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0" y="2468880"/>
            <a:ext cx="41148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800600" y="1920240"/>
            <a:ext cx="1645920" cy="109728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D46"/>
                </a:solidFill>
              </a:defRPr>
            </a:pPr>
            <a:r>
              <a:t>Run data</a:t>
            </a:r>
            <a:br/>
            <a:r>
              <a:t>structure method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46520" y="2468880"/>
            <a:ext cx="41148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858000" y="1920240"/>
            <a:ext cx="1645920" cy="109728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D46"/>
                </a:solidFill>
              </a:defRPr>
            </a:pPr>
            <a:r>
              <a:t>View table</a:t>
            </a:r>
            <a:br/>
            <a:r>
              <a:t>and output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03920" y="2468880"/>
            <a:ext cx="41148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915400" y="1920240"/>
            <a:ext cx="1645920" cy="109728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D46"/>
                </a:solidFill>
              </a:defRPr>
            </a:pPr>
            <a:r>
              <a:t>Compare</a:t>
            </a:r>
            <a:br/>
            <a:r>
              <a:t>benchmark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40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42D46"/>
                </a:solidFill>
              </a:defRPr>
            </a:pPr>
            <a:r>
              <a:t>The interface keeps the same PatientRecord dataset synchronized across every required structure.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A5A5A"/>
                </a:solidFill>
              </a:defRPr>
            </a:pPr>
            <a:r>
              <a:t>Keny's Crew | Keny Nana | COSC 214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Four Custom Data Structures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25880"/>
            <a:ext cx="2148840" cy="6858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Dynamic Array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103120"/>
            <a:ext cx="2148840" cy="2743200"/>
          </a:xfrm>
          <a:prstGeom prst="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142D46"/>
                </a:solidFill>
              </a:defRPr>
            </a:pPr>
            <a:r>
              <a:t>Resizing array</a:t>
            </a:r>
            <a:br/>
            <a:r>
              <a:t>Fast traversal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80" y="1325880"/>
            <a:ext cx="2148840" cy="6858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Linked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11880" y="2103120"/>
            <a:ext cx="2148840" cy="2743200"/>
          </a:xfrm>
          <a:prstGeom prst="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142D46"/>
                </a:solidFill>
              </a:defRPr>
            </a:pPr>
            <a:r>
              <a:t>Node chain</a:t>
            </a:r>
            <a:br/>
            <a:r>
              <a:t>Fast head insert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325880"/>
            <a:ext cx="2148840" cy="6858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Hash 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2103120"/>
            <a:ext cx="2148840" cy="2743200"/>
          </a:xfrm>
          <a:prstGeom prst="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142D46"/>
                </a:solidFill>
              </a:defRPr>
            </a:pPr>
            <a:r>
              <a:t>Buckets and chains</a:t>
            </a:r>
            <a:br/>
            <a:r>
              <a:t>Fast ID lookup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1325880"/>
            <a:ext cx="2148840" cy="6858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Priority Queue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81160" y="2103120"/>
            <a:ext cx="2148840" cy="2743200"/>
          </a:xfrm>
          <a:prstGeom prst="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142D46"/>
                </a:solidFill>
              </a:defRPr>
            </a:pPr>
            <a:r>
              <a:t>Max heap</a:t>
            </a:r>
            <a:br/>
            <a:r>
              <a:t>Emergency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A5A5A"/>
                </a:solidFill>
              </a:defRPr>
            </a:pPr>
            <a:r>
              <a:t>Keny's Crew | Keny Nana | COSC 214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Required Operations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234440"/>
            <a:ext cx="1920240" cy="68580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D46"/>
                </a:solidFill>
              </a:defRPr>
            </a:pPr>
            <a:r>
              <a:t>Insert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1234440"/>
            <a:ext cx="7863840" cy="685800"/>
          </a:xfrm>
          <a:prstGeom prst="rect">
            <a:avLst/>
          </a:prstGeom>
          <a:solidFill>
            <a:srgbClr val="F5F8FC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0">
                <a:solidFill>
                  <a:srgbClr val="142D46"/>
                </a:solidFill>
              </a:defRPr>
            </a:pPr>
            <a:r>
              <a:t>Adds a PatientRecord to each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77440"/>
            <a:ext cx="1920240" cy="68580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D46"/>
                </a:solidFill>
              </a:defRPr>
            </a:pPr>
            <a:r>
              <a:t>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1800" y="2377440"/>
            <a:ext cx="7863840" cy="685800"/>
          </a:xfrm>
          <a:prstGeom prst="rect">
            <a:avLst/>
          </a:prstGeom>
          <a:solidFill>
            <a:srgbClr val="F5F8FC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0">
                <a:solidFill>
                  <a:srgbClr val="142D46"/>
                </a:solidFill>
              </a:defRPr>
            </a:pPr>
            <a:r>
              <a:t>Finds a record using patient 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520440"/>
            <a:ext cx="1920240" cy="68580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D46"/>
                </a:solidFill>
              </a:defRPr>
            </a:pPr>
            <a:r>
              <a:t>Delete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3520440"/>
            <a:ext cx="7863840" cy="685800"/>
          </a:xfrm>
          <a:prstGeom prst="rect">
            <a:avLst/>
          </a:prstGeom>
          <a:solidFill>
            <a:srgbClr val="F5F8FC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0">
                <a:solidFill>
                  <a:srgbClr val="142D46"/>
                </a:solidFill>
              </a:defRPr>
            </a:pPr>
            <a:r>
              <a:t>Removes a record by 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663440"/>
            <a:ext cx="1920240" cy="68580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D46"/>
                </a:solidFill>
              </a:defRPr>
            </a:pPr>
            <a:r>
              <a:t>Traverse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4663440"/>
            <a:ext cx="7863840" cy="685800"/>
          </a:xfrm>
          <a:prstGeom prst="rect">
            <a:avLst/>
          </a:prstGeom>
          <a:solidFill>
            <a:srgbClr val="F5F8FC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0">
                <a:solidFill>
                  <a:srgbClr val="142D46"/>
                </a:solidFill>
              </a:defRPr>
            </a:pPr>
            <a:r>
              <a:t>Iterates through stored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A5A5A"/>
                </a:solidFill>
              </a:defRPr>
            </a:pPr>
            <a:r>
              <a:t>Keny's Crew | Keny Nana | COSC 214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Priority Queue Admission Simulation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234440"/>
            <a:ext cx="2468880" cy="640080"/>
          </a:xfrm>
          <a:prstGeom prst="roundRect">
            <a:avLst/>
          </a:prstGeom>
          <a:solidFill>
            <a:srgbClr val="70AD4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D46"/>
                </a:solidFill>
              </a:defRPr>
            </a:pPr>
            <a:r>
              <a:t>Emergency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2468880" cy="640080"/>
          </a:xfrm>
          <a:prstGeom prst="roundRect">
            <a:avLst/>
          </a:prstGeom>
          <a:solidFill>
            <a:srgbClr val="ED7D31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D46"/>
                </a:solidFill>
              </a:defRPr>
            </a:pPr>
            <a:r>
              <a:t>Urgent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154680"/>
            <a:ext cx="2468880" cy="640080"/>
          </a:xfrm>
          <a:prstGeom prst="roundRect">
            <a:avLst/>
          </a:prstGeom>
          <a:solidFill>
            <a:srgbClr val="5B9BD5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D46"/>
                </a:solidFill>
              </a:defRPr>
            </a:pPr>
            <a:r>
              <a:t>Elective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14800"/>
            <a:ext cx="2468880" cy="64008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D46"/>
                </a:solidFill>
              </a:defRPr>
            </a:pPr>
            <a:r>
              <a:t>Routine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43000"/>
            <a:ext cx="1920240" cy="685800"/>
          </a:xfrm>
          <a:prstGeom prst="roundRect">
            <a:avLst/>
          </a:prstGeom>
          <a:solidFill>
            <a:srgbClr val="70AD4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D46"/>
                </a:solidFill>
              </a:defRPr>
            </a:pPr>
            <a:r>
              <a:t>Highest priority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5943600" y="1828800"/>
            <a:ext cx="1417320" cy="105156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60920" y="1828800"/>
            <a:ext cx="1417320" cy="105156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83480" y="2880360"/>
            <a:ext cx="1920240" cy="685800"/>
          </a:xfrm>
          <a:prstGeom prst="roundRect">
            <a:avLst/>
          </a:prstGeom>
          <a:solidFill>
            <a:srgbClr val="ED7D31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D46"/>
                </a:solidFill>
              </a:defRPr>
            </a:pPr>
            <a:r>
              <a:t>Next patient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880360"/>
            <a:ext cx="1920240" cy="685800"/>
          </a:xfrm>
          <a:prstGeom prst="roundRect">
            <a:avLst/>
          </a:prstGeom>
          <a:solidFill>
            <a:srgbClr val="ED7D31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D46"/>
                </a:solidFill>
              </a:defRPr>
            </a:pPr>
            <a:r>
              <a:t>Next patient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57200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42D46"/>
                </a:solidFill>
              </a:defRPr>
            </a:pPr>
            <a:r>
              <a:t>Processing removes the heap root, then bubbleDown restores priority order.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A5A5A"/>
                </a:solidFill>
              </a:defRPr>
            </a:pPr>
            <a:r>
              <a:t>Keny's Crew | Keny Nana | COSC 214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Benchmarking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4297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2D46"/>
                </a:solidFill>
              </a:defRPr>
            </a:pPr>
            <a:r>
              <a:t>Generate or load patient records</a:t>
            </a:r>
          </a:p>
          <a:p>
            <a:pPr>
              <a:spcAft>
                <a:spcPts val="800"/>
              </a:spcAft>
              <a:defRPr sz="1800">
                <a:solidFill>
                  <a:srgbClr val="142D46"/>
                </a:solidFill>
              </a:defRPr>
            </a:pPr>
            <a:r>
              <a:t>Time insert, search, delete, and traversal</a:t>
            </a:r>
          </a:p>
          <a:p>
            <a:pPr>
              <a:spcAft>
                <a:spcPts val="800"/>
              </a:spcAft>
              <a:defRPr sz="1800">
                <a:solidFill>
                  <a:srgbClr val="142D46"/>
                </a:solidFill>
              </a:defRPr>
            </a:pPr>
            <a:r>
              <a:t>Use the same record count for each structure</a:t>
            </a:r>
          </a:p>
          <a:p>
            <a:pPr>
              <a:spcAft>
                <a:spcPts val="800"/>
              </a:spcAft>
              <a:defRPr sz="1800">
                <a:solidFill>
                  <a:srgbClr val="142D46"/>
                </a:solidFill>
              </a:defRPr>
            </a:pPr>
            <a:r>
              <a:t>Measure with System.nanoTime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0" y="1143000"/>
            <a:ext cx="5212080" cy="5486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Expected Performance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1783080"/>
            <a:ext cx="2560320" cy="548640"/>
          </a:xfrm>
          <a:prstGeom prst="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142D46"/>
                </a:solidFill>
              </a:defRPr>
            </a:pPr>
            <a:r>
              <a:t>Best ID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783080"/>
            <a:ext cx="2651760" cy="548640"/>
          </a:xfrm>
          <a:prstGeom prst="rect">
            <a:avLst/>
          </a:prstGeom>
          <a:solidFill>
            <a:srgbClr val="F5F8F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142D46"/>
                </a:solidFill>
              </a:defRPr>
            </a:pPr>
            <a:r>
              <a:t>Hash 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2560320"/>
            <a:ext cx="2560320" cy="548640"/>
          </a:xfrm>
          <a:prstGeom prst="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142D46"/>
                </a:solidFill>
              </a:defRPr>
            </a:pPr>
            <a:r>
              <a:t>Best emergency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2560320"/>
            <a:ext cx="2651760" cy="548640"/>
          </a:xfrm>
          <a:prstGeom prst="rect">
            <a:avLst/>
          </a:prstGeom>
          <a:solidFill>
            <a:srgbClr val="F5F8F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142D46"/>
                </a:solidFill>
              </a:defRPr>
            </a:pPr>
            <a:r>
              <a:t>Priority Queue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3337560"/>
            <a:ext cx="2560320" cy="548640"/>
          </a:xfrm>
          <a:prstGeom prst="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142D46"/>
                </a:solidFill>
              </a:defRPr>
            </a:pPr>
            <a:r>
              <a:t>Simple traversal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3337560"/>
            <a:ext cx="2651760" cy="548640"/>
          </a:xfrm>
          <a:prstGeom prst="rect">
            <a:avLst/>
          </a:prstGeom>
          <a:solidFill>
            <a:srgbClr val="F5F8F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142D46"/>
                </a:solidFill>
              </a:defRPr>
            </a:pPr>
            <a:r>
              <a:t>Dynamic Array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4114800"/>
            <a:ext cx="2560320" cy="548640"/>
          </a:xfrm>
          <a:prstGeom prst="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142D46"/>
                </a:solidFill>
              </a:defRPr>
            </a:pPr>
            <a:r>
              <a:t>Simple insertion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4114800"/>
            <a:ext cx="2651760" cy="548640"/>
          </a:xfrm>
          <a:prstGeom prst="rect">
            <a:avLst/>
          </a:prstGeom>
          <a:solidFill>
            <a:srgbClr val="F5F8F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142D46"/>
                </a:solidFill>
              </a:defRPr>
            </a:pPr>
            <a:r>
              <a:t>Linked 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A5A5A"/>
                </a:solidFill>
              </a:defRPr>
            </a:pPr>
            <a:r>
              <a:t>Keny's Crew | Keny Nana | COSC 214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Testing and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2D46"/>
                </a:solidFill>
              </a:defRPr>
            </a:pPr>
            <a:r>
              <a:t>Internal tests run before the GUI opens</a:t>
            </a:r>
          </a:p>
          <a:p>
            <a:pPr>
              <a:spcAft>
                <a:spcPts val="800"/>
              </a:spcAft>
              <a:defRPr sz="1800">
                <a:solidFill>
                  <a:srgbClr val="142D46"/>
                </a:solidFill>
              </a:defRPr>
            </a:pPr>
            <a:r>
              <a:t>Dynamic array search is verified</a:t>
            </a:r>
          </a:p>
          <a:p>
            <a:pPr>
              <a:spcAft>
                <a:spcPts val="800"/>
              </a:spcAft>
              <a:defRPr sz="1800">
                <a:solidFill>
                  <a:srgbClr val="142D46"/>
                </a:solidFill>
              </a:defRPr>
            </a:pPr>
            <a:r>
              <a:t>Linked list search is verified</a:t>
            </a:r>
          </a:p>
          <a:p>
            <a:pPr>
              <a:spcAft>
                <a:spcPts val="800"/>
              </a:spcAft>
              <a:defRPr sz="1800">
                <a:solidFill>
                  <a:srgbClr val="142D46"/>
                </a:solidFill>
              </a:defRPr>
            </a:pPr>
            <a:r>
              <a:t>Hash map lookup is verified</a:t>
            </a:r>
          </a:p>
          <a:p>
            <a:pPr>
              <a:spcAft>
                <a:spcPts val="800"/>
              </a:spcAft>
              <a:defRPr sz="1800">
                <a:solidFill>
                  <a:srgbClr val="142D46"/>
                </a:solidFill>
              </a:defRPr>
            </a:pPr>
            <a:r>
              <a:t>Priority queue confirms emergency-first ordering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645920"/>
            <a:ext cx="4114800" cy="246888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42D46"/>
                </a:solidFill>
              </a:defRPr>
            </a:pPr>
            <a:r>
              <a:t>Run tests with:</a:t>
            </a:r>
            <a:br/>
            <a:r>
              <a:t>java HealthcareDataStructuresApp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A5A5A"/>
                </a:solidFill>
              </a:defRPr>
            </a:pPr>
            <a:r>
              <a:t>Keny's Crew | Keny Nana | COSC 214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Final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42D46"/>
                </a:solidFill>
              </a:defRPr>
            </a:pPr>
            <a:r>
              <a:t>HealthcareDataStructuresApp.java - complete Java implementation</a:t>
            </a:r>
          </a:p>
          <a:p>
            <a:pPr>
              <a:spcAft>
                <a:spcPts val="800"/>
              </a:spcAft>
              <a:defRPr sz="1900">
                <a:solidFill>
                  <a:srgbClr val="142D46"/>
                </a:solidFill>
              </a:defRPr>
            </a:pPr>
            <a:r>
              <a:t>Final_HealthcareDataStructures_Report.docx - full written report</a:t>
            </a:r>
          </a:p>
          <a:p>
            <a:pPr>
              <a:spcAft>
                <a:spcPts val="800"/>
              </a:spcAft>
              <a:defRPr sz="1900">
                <a:solidFill>
                  <a:srgbClr val="142D46"/>
                </a:solidFill>
              </a:defRPr>
            </a:pPr>
            <a:r>
              <a:t>Final_HealthcareDataStructures_Report.pdf - PDF report copy</a:t>
            </a:r>
          </a:p>
          <a:p>
            <a:pPr>
              <a:spcAft>
                <a:spcPts val="800"/>
              </a:spcAft>
              <a:defRPr sz="1900">
                <a:solidFill>
                  <a:srgbClr val="142D46"/>
                </a:solidFill>
              </a:defRPr>
            </a:pPr>
            <a:r>
              <a:t>Final_HealthcareDataStructures_Presentation.pptx - 10-slide presentation</a:t>
            </a:r>
          </a:p>
          <a:p>
            <a:pPr>
              <a:spcAft>
                <a:spcPts val="800"/>
              </a:spcAft>
              <a:defRPr sz="1900">
                <a:solidFill>
                  <a:srgbClr val="142D46"/>
                </a:solidFill>
              </a:defRPr>
            </a:pPr>
            <a:r>
              <a:t>HealthcareSampleData.csv - optional sample data for live demo</a:t>
            </a:r>
          </a:p>
          <a:p>
            <a:pPr>
              <a:spcAft>
                <a:spcPts val="800"/>
              </a:spcAft>
              <a:defRPr sz="1900">
                <a:solidFill>
                  <a:srgbClr val="142D46"/>
                </a:solidFill>
              </a:defRPr>
            </a:pPr>
            <a:r>
              <a:t>Final_README_Run_Instructions.txt - compile and run instructions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A5A5A"/>
                </a:solidFill>
              </a:defRPr>
            </a:pPr>
            <a:r>
              <a:t>Keny's Crew | Keny Nana | COSC 214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